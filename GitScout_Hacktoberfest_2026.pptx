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6675120" cy="365760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524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5B41A"/>
                </a:solidFill>
                <a:latin typeface="Consolas"/>
              </a:defRPr>
            </a:pPr>
            <a:r>
              <a:t>⚡ HACKTOBERFEST 2026 × GDG CLOUD NAGPUR • SPONSORED BY MLH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6675120" cy="1691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🔭 GitScout</a:t>
            </a:r>
          </a:p>
          <a:p>
            <a:pPr>
              <a:spcAft>
                <a:spcPts val="400"/>
              </a:spcAft>
              <a:defRPr sz="1550" b="1">
                <a:solidFill>
                  <a:srgbClr val="FF5B45"/>
                </a:solidFill>
                <a:latin typeface="Segoe UI"/>
              </a:defRPr>
            </a:pPr>
            <a:r>
              <a:t>AI-Powered GitHub Developer Discovery &amp; Qualification Engine</a:t>
            </a:r>
          </a:p>
          <a:p>
            <a:pPr>
              <a:defRPr sz="1150">
                <a:solidFill>
                  <a:srgbClr val="D7E4E1"/>
                </a:solidFill>
                <a:latin typeface="Segoe UI"/>
              </a:defRPr>
            </a:pPr>
            <a:r>
              <a:t>Transform natural-language technical requirements into verified, evidence-grounded talent discovery powered by Gemma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6675120" cy="192024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524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F5B41A"/>
                </a:solidFill>
                <a:latin typeface="Consolas"/>
              </a:defRPr>
            </a:pPr>
            <a:r>
              <a:t>🏆 TARGET CHALLENGES (MLH × HACKTOBERFEST 2026)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Track 1: Best Use of Gemma 4</a:t>
            </a:r>
          </a:p>
          <a:p>
            <a:pPr>
              <a:spcAft>
                <a:spcPts val="400"/>
              </a:spcAft>
              <a:defRPr sz="1000">
                <a:solidFill>
                  <a:srgbClr val="9BAFAA"/>
                </a:solidFill>
                <a:latin typeface="Segoe UI"/>
              </a:defRPr>
            </a:pPr>
            <a:r>
              <a:t>  Leverages Google AI Studio Gemma 4 &amp; local Ollama for zero-hallucination candidate qualification and tailored outreach generation.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Track 2: Best Open-Source AI Project</a:t>
            </a:r>
          </a:p>
          <a:p>
            <a:pPr>
              <a:defRPr sz="1000">
                <a:solidFill>
                  <a:srgbClr val="9BAFAA"/>
                </a:solidFill>
                <a:latin typeface="Segoe UI"/>
              </a:defRPr>
            </a:pPr>
            <a:r>
              <a:t>  100% open-source under MIT, modular developer discovery pipeline, extensible scoring, and community-first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675120" cy="1691640"/>
          </a:xfrm>
          <a:prstGeom prst="roundRect">
            <a:avLst>
              <a:gd name="adj" fmla="val 3500"/>
            </a:avLst>
          </a:prstGeom>
          <a:solidFill>
            <a:srgbClr val="183430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64592"/>
          <a:lstStyle/>
          <a:p>
            <a:pPr algn="ctr">
              <a:spcAft>
                <a:spcPts val="400"/>
              </a:spcAft>
              <a:defRPr sz="1050" b="1">
                <a:solidFill>
                  <a:srgbClr val="34D399"/>
                </a:solidFill>
                <a:latin typeface="Consolas"/>
              </a:defRPr>
            </a:pPr>
            <a:r>
              <a:t>🌐 LIVE PRODUCTION DEPLOYMENTS &amp; REPO</a:t>
            </a:r>
          </a:p>
          <a:p>
            <a:pPr>
              <a:spcAft>
                <a:spcPts val="2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Web Application: https://gitscout-web.onrender.com (Live on Render)</a:t>
            </a:r>
          </a:p>
          <a:p>
            <a:pPr>
              <a:spcAft>
                <a:spcPts val="200"/>
              </a:spcAft>
              <a:defRPr sz="1050">
                <a:solidFill>
                  <a:srgbClr val="D7E4E1"/>
                </a:solidFill>
                <a:latin typeface="Segoe UI"/>
              </a:defRPr>
            </a:pPr>
            <a:r>
              <a:t>• Backend API Health: https://gitscout-api-3h18.onrender.com/api/health</a:t>
            </a:r>
          </a:p>
          <a:p>
            <a:pPr>
              <a:defRPr sz="1050">
                <a:solidFill>
                  <a:srgbClr val="8AB4F8"/>
                </a:solidFill>
                <a:latin typeface="Segoe UI"/>
              </a:defRPr>
            </a:pPr>
            <a:r>
              <a:t>• GitHub: github.com/aviraL27/gitscout  |  Presenter: Aviral Joshi</a:t>
            </a:r>
          </a:p>
        </p:txBody>
      </p:sp>
      <p:pic>
        <p:nvPicPr>
          <p:cNvPr id="8" name="Picture 7" descr="hacktoberfest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77240"/>
            <a:ext cx="3977639" cy="223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246120"/>
            <a:ext cx="3977639" cy="3200400"/>
          </a:xfrm>
          <a:prstGeom prst="roundRect">
            <a:avLst>
              <a:gd name="adj" fmla="val 3500"/>
            </a:avLst>
          </a:prstGeom>
          <a:solidFill>
            <a:srgbClr val="122623"/>
          </a:solidFill>
          <a:ln w="1524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FF5B45"/>
                </a:solidFill>
                <a:latin typeface="Consolas"/>
              </a:defRPr>
            </a:pPr>
            <a:r>
              <a:t>terminal :: gitscout-scout-daemon</a:t>
            </a:r>
          </a:p>
          <a:p>
            <a:pPr>
              <a:spcAft>
                <a:spcPts val="150"/>
              </a:spcAft>
              <a:defRPr sz="880" b="1">
                <a:solidFill>
                  <a:srgbClr val="F8FAFC"/>
                </a:solidFill>
                <a:latin typeface="Consolas"/>
              </a:defRPr>
            </a:pPr>
            <a:r>
              <a:t>$ gitscout search --query "RAG devs in India"</a:t>
            </a:r>
          </a:p>
          <a:p>
            <a:pPr>
              <a:spcAft>
                <a:spcPts val="150"/>
              </a:spcAft>
              <a:defRPr sz="880" b="0">
                <a:solidFill>
                  <a:srgbClr val="9BAFAA"/>
                </a:solidFill>
                <a:latin typeface="Consolas"/>
              </a:defRPr>
            </a:pPr>
            <a:r>
              <a:t>&gt;&gt; [SearchPlanner] Generated 3 API query angles</a:t>
            </a:r>
          </a:p>
          <a:p>
            <a:pPr>
              <a:spcAft>
                <a:spcPts val="150"/>
              </a:spcAft>
              <a:defRPr sz="880" b="0">
                <a:solidFill>
                  <a:srgbClr val="D7E4E1"/>
                </a:solidFill>
                <a:latin typeface="Consolas"/>
              </a:defRPr>
            </a:pPr>
            <a:r>
              <a:t>&gt;&gt; [GitHubClient] Scanned 45 profiles (5k req/hr PAT)</a:t>
            </a:r>
          </a:p>
          <a:p>
            <a:pPr>
              <a:spcAft>
                <a:spcPts val="150"/>
              </a:spcAft>
              <a:defRPr sz="880" b="1">
                <a:solidFill>
                  <a:srgbClr val="34D399"/>
                </a:solidFill>
                <a:latin typeface="Consolas"/>
              </a:defRPr>
            </a:pPr>
            <a:r>
              <a:t>&gt;&gt; [AIRouter] Gemma 4 cloud evaluator engaged</a:t>
            </a:r>
          </a:p>
          <a:p>
            <a:pPr>
              <a:spcAft>
                <a:spcPts val="150"/>
              </a:spcAft>
              <a:defRPr sz="880" b="0">
                <a:solidFill>
                  <a:srgbClr val="9BAFAA"/>
                </a:solidFill>
                <a:latin typeface="Consolas"/>
              </a:defRPr>
            </a:pPr>
            <a:r>
              <a:t>   Model: gemma-4-31b-it (Google AI API)</a:t>
            </a:r>
          </a:p>
          <a:p>
            <a:pPr>
              <a:spcAft>
                <a:spcPts val="150"/>
              </a:spcAft>
              <a:defRPr sz="880" b="1">
                <a:solidFill>
                  <a:srgbClr val="F5B41A"/>
                </a:solidFill>
                <a:latin typeface="Consolas"/>
              </a:defRPr>
            </a:pPr>
            <a:r>
              <a:t>&gt;&gt; [Evaluator] 12 candidates qualified (&gt;80 pts)</a:t>
            </a:r>
          </a:p>
          <a:p>
            <a:pPr>
              <a:spcAft>
                <a:spcPts val="150"/>
              </a:spcAft>
              <a:defRPr sz="880" b="0">
                <a:solidFill>
                  <a:srgbClr val="9BAFAA"/>
                </a:solidFill>
                <a:latin typeface="Consolas"/>
              </a:defRPr>
            </a:pPr>
            <a:r>
              <a:t>   Signals: Location + Skills + Commits + Repo Proof</a:t>
            </a:r>
          </a:p>
          <a:p>
            <a:pPr>
              <a:spcAft>
                <a:spcPts val="150"/>
              </a:spcAft>
              <a:defRPr sz="880" b="0">
                <a:solidFill>
                  <a:srgbClr val="8AB4F8"/>
                </a:solidFill>
                <a:latin typeface="Consolas"/>
              </a:defRPr>
            </a:pPr>
            <a:r>
              <a:t>&gt;&gt; [Outreach] 12 personalized emails drafted</a:t>
            </a:r>
          </a:p>
          <a:p>
            <a:pPr>
              <a:spcAft>
                <a:spcPts val="150"/>
              </a:spcAft>
              <a:defRPr sz="880" b="1">
                <a:solidFill>
                  <a:srgbClr val="F8FAFC"/>
                </a:solidFill>
                <a:latin typeface="Consolas"/>
              </a:defRPr>
            </a:pPr>
            <a:r>
              <a:t>&gt;&gt; [Status] Published to live Render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⚡ THE SOURCING CRISIS vs. GITSCOUT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7899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Finding Real Open-Source Talent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89920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>
                <a:solidFill>
                  <a:srgbClr val="9BAFAA"/>
                </a:solidFill>
                <a:latin typeface="Segoe UI"/>
              </a:defRPr>
            </a:pPr>
            <a:r>
              <a:t>Traditional recruiting tools fail modern engineering teams by relying on shallow keyword filters and unverified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12080" cy="406908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01168"/>
          <a:lstStyle/>
          <a:p>
            <a:pPr algn="ctr">
              <a:spcAft>
                <a:spcPts val="1000"/>
              </a:spcAft>
              <a:defRPr sz="1200" b="1">
                <a:solidFill>
                  <a:srgbClr val="F87171"/>
                </a:solidFill>
                <a:latin typeface="Consolas"/>
              </a:defRPr>
            </a:pPr>
            <a:r>
              <a:t>❌ THE STATUS QUO: RECRUITER PITFALLS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Brittle Boolean Keyword Filters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Keyword queries miss 70%+ of top contributors who write phenomenal code but don't stuff SEO keywords into their profile bios.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AI Hallucinations &amp; Fabricated Skills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Generic black-box LLMs assume skills that don't exist in the candidate's actual repositories, leading to awkward outreach and failed technical interviews.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Impersonal, Spammy Recruiter Templates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Senior developers immediately discard cold, generic outreach emails that show no understanding of their real open-source work.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Extreme Context Switching &amp; Time Waste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Recruiters manually cross-reference GitHub commits, stars, repository activity, and profile links—costing 30+ minutes per candidate.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81328"/>
            <a:ext cx="5212080" cy="406908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01168"/>
          <a:lstStyle/>
          <a:p>
            <a:pPr algn="ctr">
              <a:spcAft>
                <a:spcPts val="100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⚡ THE GITSCOUT ADVANTAGE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Conversational Search Intent Planning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Input natural requirements (e.g. 'Find devs in India with RAG and LLM repos')—GitScout plans multi-angle GitHub queries automatically.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Deep Repository &amp; Codebase Enrichment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Fetches actual repository codebases, commit timestamps, stargazer proof, and topic tags to evaluate authentic engineering substance.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Zero-Hallucination Qualification with Gemma 4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Gemma 4 evaluates candidates against an objective 100-point rubric, citing exact repositories and skills with zero hallucinations.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Context-Aware 1-Click Outreach Emails</a:t>
            </a:r>
          </a:p>
          <a:p>
            <a:pPr>
              <a:spcAft>
                <a:spcPts val="600"/>
              </a:spcAft>
              <a:defRPr sz="980">
                <a:solidFill>
                  <a:srgbClr val="9BAFAA"/>
                </a:solidFill>
                <a:latin typeface="Segoe UI"/>
              </a:defRPr>
            </a:pPr>
            <a:r>
              <a:t>  Generates authentic dev-to-dev emails referencing the candidate's exact repository name and achievements (&lt;120 words).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868680"/>
          </a:xfrm>
          <a:prstGeom prst="roundRect">
            <a:avLst>
              <a:gd name="adj" fmla="val 3000"/>
            </a:avLst>
          </a:prstGeom>
          <a:solidFill>
            <a:srgbClr val="122623"/>
          </a:solidFill>
          <a:ln w="1270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09728"/>
          <a:lstStyle/>
          <a:p>
            <a:pPr algn="ctr">
              <a:defRPr sz="1000" b="1">
                <a:solidFill>
                  <a:srgbClr val="F5B41A"/>
                </a:solidFill>
                <a:latin typeface="Consolas"/>
              </a:defRPr>
            </a:pPr>
            <a:r>
              <a:t>KEY METRIC IMPACT: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⏱️ Time per candidate: 30 min → 15 sec  |  🎯 False positive skills: High → 0% (Ground truth)  |  ✉️ Outreach response rate: 5% → 40%+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⚡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7899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From Natural-Language Prompt to Qualified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89920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>
                <a:solidFill>
                  <a:srgbClr val="9BAFAA"/>
                </a:solidFill>
                <a:latin typeface="Segoe UI"/>
              </a:defRPr>
            </a:pPr>
            <a:r>
              <a:t>A resilient 5-stage pipeline connecting GitHub's global graph with Google's Gemma 4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66543" cy="278892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64592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STAGE 01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Search Planner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Natural prompt input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Deterministic keyword extraction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Multi-query decomposition (user + repo searches)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Location &amp; tech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2066543" cy="278892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64592"/>
          <a:lstStyle/>
          <a:p>
            <a:pPr algn="ctr">
              <a:defRPr sz="950" b="1">
                <a:solidFill>
                  <a:srgbClr val="8AB4F8"/>
                </a:solidFill>
                <a:latin typeface="Consolas"/>
              </a:defRPr>
            </a:pPr>
            <a:r>
              <a:t>STAGE 02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GitHub Search API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Authenticated GitHub REST API client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5,000 req/hr token rate-limit tracking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Auto retry &amp; backoff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Candidate deduplication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08760"/>
            <a:ext cx="2066543" cy="278892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64592"/>
          <a:lstStyle/>
          <a:p>
            <a:pPr algn="ctr">
              <a:defRPr sz="950" b="1">
                <a:solidFill>
                  <a:srgbClr val="F5B41A"/>
                </a:solidFill>
                <a:latin typeface="Consolas"/>
              </a:defRPr>
            </a:pPr>
            <a:r>
              <a:t>STAGE 03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Enrichment Engine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Pulls profile &amp; bio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Fetches top public repos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Inspects code languages &amp; topic tags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Validates commit recency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508760"/>
            <a:ext cx="2066543" cy="278892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64592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STAGE 04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Gemma 4 Evaluator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Google AI Studio Gemma 4 IT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Ollama local runner fallback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100-pt evidence-backed rubric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Zod JSON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508760"/>
            <a:ext cx="2066543" cy="278892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64592"/>
          <a:lstStyle/>
          <a:p>
            <a:pPr algn="ctr">
              <a:defRPr sz="950" b="1">
                <a:solidFill>
                  <a:srgbClr val="F8FAFC"/>
                </a:solidFill>
                <a:latin typeface="Consolas"/>
              </a:defRPr>
            </a:pPr>
            <a:r>
              <a:t>STAGE 05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Real-Time UI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Ranked candidate cards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Score &amp; signal breakdown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Verifiable repo evidence badges</a:t>
            </a:r>
          </a:p>
          <a:p>
            <a:pPr>
              <a:spcAft>
                <a:spcPts val="20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1-click tailored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62272"/>
            <a:ext cx="10789920" cy="2084831"/>
          </a:xfrm>
          <a:prstGeom prst="roundRect">
            <a:avLst>
              <a:gd name="adj" fmla="val 3500"/>
            </a:avLst>
          </a:prstGeom>
          <a:solidFill>
            <a:srgbClr val="183430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10241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 b="1">
                <a:solidFill>
                  <a:srgbClr val="F5B41A"/>
                </a:solidFill>
                <a:latin typeface="Consolas"/>
              </a:defRPr>
            </a:pPr>
            <a:r>
              <a:t>🛠️ MONOREPO ARCHITECTURE &amp; 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3291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AB4F8"/>
                </a:solidFill>
                <a:latin typeface="Segoe UI"/>
              </a:defRPr>
            </a:pPr>
            <a:r>
              <a:t>Frontend (apps/web)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React 19 + Vite + Tailwind CSS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Lucide React Icons &amp; Animations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Deployed as Static Site on Render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Interactive search state &amp;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892040"/>
            <a:ext cx="3291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5B45"/>
                </a:solidFill>
                <a:latin typeface="Segoe UI"/>
              </a:defRPr>
            </a:pPr>
            <a:r>
              <a:t>Backend &amp; Shared (apps/api)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Node.js + Express + TypeScript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Octokit GitHub API REST Client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In-memory SearchJobStore (PostgreSQL ready)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@gitscout/shared: Universal Zod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892040"/>
            <a:ext cx="3291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AI &amp; Evaluation (AIRouter)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Primary: Gemma 4 (gemma-4-31b-it)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Fallback: Gemini 3.8 Flash (Cloud)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Offline: Ollama runner (gemma4:12b)</a:t>
            </a:r>
          </a:p>
          <a:p>
            <a:pPr>
              <a:spcAft>
                <a:spcPts val="15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Zero candidate loss deterministic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⚡ COMPETITION TRACK: BEST USE OF GEMMA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7899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Gemma 4 AI Engine &amp; Transparent 100-Point Rubric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89920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>
                <a:solidFill>
                  <a:srgbClr val="9BAFAA"/>
                </a:solidFill>
                <a:latin typeface="Segoe UI"/>
              </a:defRPr>
            </a:pPr>
            <a:r>
              <a:t>No AI hallucinations. GitScout pairs Google's Gemma 4 open-weights model with a verifiable evidence framework.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12080" cy="498348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64208"/>
            <a:ext cx="470001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200" b="1">
                <a:solidFill>
                  <a:srgbClr val="8AB4F8"/>
                </a:solidFill>
                <a:latin typeface="Consolas"/>
              </a:defRPr>
            </a:pPr>
            <a:r>
              <a:t>🧠 RESILIENT MULTI-TIER AIROUTER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75688"/>
            <a:ext cx="4754880" cy="96012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ctr">
              <a:spcAft>
                <a:spcPts val="200"/>
              </a:spcAft>
              <a:defRPr sz="1050" b="1">
                <a:solidFill>
                  <a:srgbClr val="FF5B45"/>
                </a:solidFill>
                <a:latin typeface="Segoe UI"/>
              </a:defRPr>
            </a:pPr>
            <a:r>
              <a:t>Tier 1: Gemma 4 Cloud (Primary)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gemma-4-26b-a4b-it / gemma-4-31b-it on Google AI API. Provides deep reasoning, zero-hallucination compliance, and structured JSON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127247"/>
            <a:ext cx="4754880" cy="96012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ctr">
              <a:spcAft>
                <a:spcPts val="200"/>
              </a:spcAft>
              <a:defRPr sz="1050" b="1">
                <a:solidFill>
                  <a:srgbClr val="8AB4F8"/>
                </a:solidFill>
                <a:latin typeface="Segoe UI"/>
              </a:defRPr>
            </a:pPr>
            <a:r>
              <a:t>Tier 2: Gemini 3.8 Flash (High-Throughput Fallback)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Provides instant cloud redundancy to guarantee uninterrupted candidate evaluation even under strict API rate-limiting.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178807"/>
            <a:ext cx="4754880" cy="96012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ctr">
              <a:spcAft>
                <a:spcPts val="2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Tier 3: Local Ollama Runner (Air-Gapped Privacy)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Runs gemma4:12b entirely locally via Ollama (http://localhost:11434). Zero API costs, 100% data confidentiality for enterprise talent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230367"/>
            <a:ext cx="4754880" cy="96012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ctr">
              <a:spcAft>
                <a:spcPts val="200"/>
              </a:spcAft>
              <a:defRPr sz="1050" b="1">
                <a:solidFill>
                  <a:srgbClr val="F5B41A"/>
                </a:solidFill>
                <a:latin typeface="Segoe UI"/>
              </a:defRPr>
            </a:pPr>
            <a:r>
              <a:t>Tier 4: Deterministic Algorithmic Backup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Zero dropped candidates: if external networks fail completely, deterministic keyword/repo heuristics preserve candidate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81328"/>
            <a:ext cx="5212080" cy="4983480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64208"/>
            <a:ext cx="470001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200" b="1">
                <a:solidFill>
                  <a:srgbClr val="F5B41A"/>
                </a:solidFill>
                <a:latin typeface="Consolas"/>
              </a:defRPr>
            </a:pPr>
            <a:r>
              <a:t>⚖️ OBJECTIVE 100-POINT SCORING RUBRIC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75688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5B41A"/>
                </a:solidFill>
                <a:latin typeface="Segoe UI"/>
              </a:defRPr>
            </a:pPr>
            <a:r>
              <a:t>📍 Location Match  [+20 PTS]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Profile location strictly matches requested geographic scope (e.g., India, Nagpur, Remote).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898648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F5B45"/>
                </a:solidFill>
                <a:latin typeface="Segoe UI"/>
              </a:defRPr>
            </a:pPr>
            <a:r>
              <a:t>💻 Core Skill Match  [+25 PTS]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Bio, repository topics, and project descriptions explicitly demonstrate required technologies.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721608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100"/>
              </a:spcAft>
              <a:defRPr sz="1050" b="1">
                <a:solidFill>
                  <a:srgbClr val="8AB4F8"/>
                </a:solidFill>
                <a:latin typeface="Segoe UI"/>
              </a:defRPr>
            </a:pPr>
            <a:r>
              <a:t>⚙️ Language Match  [+15 PTS]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Primary programming languages across top repositories align with technical specifications.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544568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1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📦 Concrete Repository Evidence  [+25 PTS]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Active, original repositories proving practical implementation (not empty forks or cloned repos).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367528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⚡ Recent Activity Recency  [+15 PTS]</a:t>
            </a:r>
          </a:p>
          <a:p>
            <a:pPr>
              <a:defRPr sz="919">
                <a:solidFill>
                  <a:srgbClr val="D7E4E1"/>
                </a:solidFill>
                <a:latin typeface="Segoe UI"/>
              </a:defRPr>
            </a:pPr>
            <a:r>
              <a:t>Verified commits, pull requests, or project updates pushed within the last 6 months.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6144768"/>
            <a:ext cx="4754880" cy="347472"/>
          </a:xfrm>
          <a:prstGeom prst="roundRect">
            <a:avLst>
              <a:gd name="adj" fmla="val 2000"/>
            </a:avLst>
          </a:prstGeom>
          <a:solidFill>
            <a:srgbClr val="1226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tIns="54864"/>
          <a:lstStyle/>
          <a:p>
            <a:pPr algn="ctr">
              <a:defRPr sz="919" b="1">
                <a:solidFill>
                  <a:srgbClr val="34D399"/>
                </a:solidFill>
                <a:latin typeface="Segoe UI"/>
              </a:defRPr>
            </a:pPr>
            <a:r>
              <a:t>🛡️ Zero-Hallucination: Gemma 4 strictly cites verified evidence arrays.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⚡ LIVE DEMO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7899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Production-Grade Experience Deployed on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89920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>
                <a:solidFill>
                  <a:srgbClr val="9BAFAA"/>
                </a:solidFill>
                <a:latin typeface="Segoe UI"/>
              </a:defRPr>
            </a:pPr>
            <a:r>
              <a:t>A battle-tested full-stack web application delivering instant developer discovery and contextual outreach.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3429000" cy="3977639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FF5B45"/>
                </a:solidFill>
                <a:latin typeface="Consolas"/>
              </a:defRPr>
            </a:pPr>
            <a:r>
              <a:t>01 / QUERY &amp; SEARCH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Real-Time Query Planning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Conversational input box parses open-ended developer requirements.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Decomposes complex requests into multi-angle GitHub queries automatically.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Live progress status indicator showing discovery and qualification stages.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In-memory cached SearchJobStore for sub-second retrieval on repeated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4178808"/>
            <a:ext cx="3099816" cy="114300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/>
          <a:lstStyle/>
          <a:p>
            <a:pPr algn="ctr">
              <a:spcAft>
                <a:spcPts val="200"/>
              </a:spcAft>
              <a:defRPr sz="800" b="1">
                <a:solidFill>
                  <a:srgbClr val="FF5B45"/>
                </a:solidFill>
                <a:latin typeface="Consolas"/>
              </a:defRPr>
            </a:pPr>
            <a:r>
              <a:t>UI PREVIEW: SEARCH PROMPT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🔍 "Find developers in India building RAG"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├─ Multi-Query: location:India repos:&gt;3 "RAG"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├─ Repo Angle: topic:rag language:typescript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└─ Status: 45 contributors queued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481328"/>
            <a:ext cx="3429000" cy="3977639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8AB4F8"/>
                </a:solidFill>
                <a:latin typeface="Consolas"/>
              </a:defRPr>
            </a:pPr>
            <a:r>
              <a:t>02 / EVALUATION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Evidence Badges &amp; Signals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Score badges (e.g. 95/100, 85/100) ranked transparently with reasons.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Color-coded signal chips: [Location] [Skills] [Repo Evidence] [Active Commits].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Clickable GitHub repository cards with star counts, language chips, and description.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Direct link to candidate GitHub profile and top 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999" y="4178808"/>
            <a:ext cx="3099816" cy="114300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/>
          <a:lstStyle/>
          <a:p>
            <a:pPr algn="ctr">
              <a:spcAft>
                <a:spcPts val="200"/>
              </a:spcAft>
              <a:defRPr sz="800" b="1">
                <a:solidFill>
                  <a:srgbClr val="8AB4F8"/>
                </a:solidFill>
                <a:latin typeface="Consolas"/>
              </a:defRPr>
            </a:pPr>
            <a:r>
              <a:t>UI PREVIEW: CANDIDATE CARD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👤 Aviral Joshi • 95/100 • India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[✓ Location: India]  [✓ Skills: LLM, RAG]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[✓ TypeScript: 8 repos]  [✓ Commits: 2d ago]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Reason: Author of verified RAG open-source repos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81328"/>
            <a:ext cx="3429000" cy="3977639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34D399"/>
                </a:solidFill>
                <a:latin typeface="Consolas"/>
              </a:defRPr>
            </a:pPr>
            <a:r>
              <a:t>03 / OUTREACH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1-Click Contextual Outreach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Gemma 4 drafts authentic developer-to-developer outreach emails.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Strict rule: &lt;120 words, mentions exact repository names and tech accomplishments.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Never sounds like automated recruitment spam.</a:t>
            </a:r>
          </a:p>
          <a:p>
            <a:pPr>
              <a:spcAft>
                <a:spcPts val="250"/>
              </a:spcAft>
              <a:defRPr sz="919">
                <a:solidFill>
                  <a:srgbClr val="D7E4E1"/>
                </a:solidFill>
                <a:latin typeface="Segoe UI"/>
              </a:defRPr>
            </a:pPr>
            <a:r>
              <a:t>• 1-click copy subject and body directly into your favorite email client.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4178808"/>
            <a:ext cx="3099816" cy="1143000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/>
          <a:lstStyle/>
          <a:p>
            <a:pPr algn="ctr">
              <a:spcAft>
                <a:spcPts val="200"/>
              </a:spcAft>
              <a:defRPr sz="800" b="1">
                <a:solidFill>
                  <a:srgbClr val="34D399"/>
                </a:solidFill>
                <a:latin typeface="Consolas"/>
              </a:defRPr>
            </a:pPr>
            <a:r>
              <a:t>UI PREVIEW: OUTREACH DRAFT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Subj: Loved your work on GitScout!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To: candidate@github.dev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"Hi Aviral, saw your impressive RAG pipelines</a:t>
            </a:r>
          </a:p>
          <a:p>
            <a:pPr>
              <a:spcAft>
                <a:spcPts val="100"/>
              </a:spcAft>
              <a:defRPr sz="780">
                <a:solidFill>
                  <a:srgbClr val="F8FAFC"/>
                </a:solidFill>
                <a:latin typeface="Consolas"/>
              </a:defRPr>
            </a:pPr>
            <a:r>
              <a:t>in gitscout. Would love to collaborate for GDGC!"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96128"/>
            <a:ext cx="10789920" cy="960120"/>
          </a:xfrm>
          <a:prstGeom prst="roundRect">
            <a:avLst>
              <a:gd name="adj" fmla="val 3000"/>
            </a:avLst>
          </a:prstGeom>
          <a:solidFill>
            <a:srgbClr val="183430"/>
          </a:solidFill>
          <a:ln w="12700">
            <a:solidFill>
              <a:srgbClr val="F5B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09728"/>
          <a:lstStyle/>
          <a:p>
            <a:pPr algn="ctr">
              <a:defRPr sz="1050" b="1">
                <a:solidFill>
                  <a:srgbClr val="F5B41A"/>
                </a:solidFill>
                <a:latin typeface="Consolas"/>
              </a:defRPr>
            </a:pPr>
            <a:r>
              <a:t>🚀 TESTED &amp; DEPLOYED IN PRODUCTION ON RENDER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Web Application: https://gitscout-web.onrender.com  |  • Backend API: https://gitscout-api-3h18.onrender.com/api/health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solidFill>
              <a:srgbClr val="0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B45"/>
          </a:solidFill>
          <a:ln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>
              <a:gd name="adj" fmla="val 15000"/>
            </a:avLst>
          </a:prstGeom>
          <a:solidFill>
            <a:srgbClr val="122623"/>
          </a:solidFill>
          <a:ln w="1270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1">
                <a:solidFill>
                  <a:srgbClr val="FF5B45"/>
                </a:solidFill>
                <a:latin typeface="Consolas"/>
              </a:defRPr>
            </a:pPr>
            <a:r>
              <a:t>⚡ HACKTOBERFEST 2026 × COMMUNITY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7899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Open-Source Community Impact &amp; Future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89920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1100">
                <a:solidFill>
                  <a:srgbClr val="9BAFAA"/>
                </a:solidFill>
                <a:latin typeface="Segoe UI"/>
              </a:defRPr>
            </a:pPr>
            <a:r>
              <a:t>Built in the open for developers, student communities, and technical scouts across the globe.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12080" cy="3977639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45920"/>
            <a:ext cx="470001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200" b="1">
                <a:solidFill>
                  <a:srgbClr val="FF5B45"/>
                </a:solidFill>
                <a:latin typeface="Consolas"/>
              </a:defRPr>
            </a:pPr>
            <a:r>
              <a:t>🤝 BUILT FOR HACKTOBERFEST &amp; GDGC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MIT Licensed &amp; 100% Open Source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Published on public GitHub repository (github.com/aviraL27/gitscout) welcoming global contributions.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3464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Beginner-Friendly Contribution Pathways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Curated 'good first issue' labels for adding database connectors, UI widgets, and exporter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65760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Empowering Community Organizers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Helps GDG Cloud Nagpur and tech communities discover local speakers, mentors, and open-source contributors.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8056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Modular &amp; Extensible AI Harness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Clean abstraction layer allows contributors to plug in new LLM providers (vLLM, LMStudio, Anthropic) seamlessly.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81328"/>
            <a:ext cx="5212080" cy="3977639"/>
          </a:xfrm>
          <a:prstGeom prst="roundRect">
            <a:avLst>
              <a:gd name="adj" fmla="val 3500"/>
            </a:avLst>
          </a:prstGeom>
          <a:solidFill>
            <a:srgbClr val="132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45920"/>
            <a:ext cx="470001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Consolas"/>
              </a:defRPr>
            </a:pPr>
            <a:r>
              <a:t>🚀 FUTURE ROADMAP (PHASE 3+)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Gemma 4 Multimodal Portfolio Analysis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Ingest candidate architecture diagrams, personal portfolio screenshots, and resume PDFs using Gemma 4 multimodal capabilities.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83464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PostgreSQL Enterprise Store &amp; Exports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Persistent candidate talent pools, recruiter notes, and export to CSV/JSON for team collaboration.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65760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Multi-Platform Contributor Sourcing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Expand discovery across HuggingFace models, Kaggle notebooks, and Stack Overflow profiles.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480560"/>
            <a:ext cx="4754880" cy="749808"/>
          </a:xfrm>
          <a:prstGeom prst="roundRect">
            <a:avLst>
              <a:gd name="adj" fmla="val 2500"/>
            </a:avLst>
          </a:prstGeom>
          <a:solidFill>
            <a:srgbClr val="122623"/>
          </a:solidFill>
          <a:ln w="12700">
            <a:solidFill>
              <a:srgbClr val="265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Automated Open-Source Issue Matcher</a:t>
            </a:r>
          </a:p>
          <a:p>
            <a:pPr>
              <a:defRPr sz="919">
                <a:solidFill>
                  <a:srgbClr val="9BAFAA"/>
                </a:solidFill>
                <a:latin typeface="Segoe UI"/>
              </a:defRPr>
            </a:pPr>
            <a:r>
              <a:t>Match open Hacktoberfest issues directly to qualified contributors based on repo commit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96128"/>
            <a:ext cx="10789920" cy="960120"/>
          </a:xfrm>
          <a:prstGeom prst="roundRect">
            <a:avLst>
              <a:gd name="adj" fmla="val 3000"/>
            </a:avLst>
          </a:prstGeom>
          <a:solidFill>
            <a:srgbClr val="183430"/>
          </a:solidFill>
          <a:ln w="19050">
            <a:solidFill>
              <a:srgbClr val="FF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09728"/>
          <a:lstStyle/>
          <a:p>
            <a:pPr algn="ctr">
              <a:defRPr sz="1100" b="1">
                <a:solidFill>
                  <a:srgbClr val="F5B41A"/>
                </a:solidFill>
                <a:latin typeface="Consolas"/>
              </a:defRPr>
            </a:pPr>
            <a:r>
              <a:t>🌟 LEARN. CONTRIBUTE. BUILD. REPEAT. — GDG CLOUD NAGPUR × MLH</a:t>
            </a:r>
          </a:p>
          <a:p>
            <a:pPr algn="ctr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Try GitScout Live: https://gitscout-web.onrender.com  •  Contribute on GitHub: https://github.com/aviraL27/gitscout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